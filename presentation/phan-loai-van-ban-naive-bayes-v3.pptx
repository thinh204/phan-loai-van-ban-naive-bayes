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b761513bb84dfa" /><Relationship Type="http://schemas.openxmlformats.org/officeDocument/2006/relationships/extended-properties" Target="/docProps/app.xml" Id="R6dad0265d1b14109" /><Relationship Type="http://schemas.openxmlformats.org/officeDocument/2006/relationships/officeDocument" Target="/ppt/presentation.xml" Id="R0269522c2c2b41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77253c2c2f4723"/>
  </p:sldMasterIdLst>
  <p:notesMasterIdLst>
    <p:notesMasterId xmlns:r="http://schemas.openxmlformats.org/officeDocument/2006/relationships" r:id="R7d71d32359854786"/>
  </p:notesMasterIdLst>
  <p:sldIdLst>
    <p:sldId xmlns:r="http://schemas.openxmlformats.org/officeDocument/2006/relationships" id="256" r:id="Rbd0045619f8a4950"/>
    <p:sldId xmlns:r="http://schemas.openxmlformats.org/officeDocument/2006/relationships" id="257" r:id="R9267faff925f4702"/>
    <p:sldId xmlns:r="http://schemas.openxmlformats.org/officeDocument/2006/relationships" id="258" r:id="R05c99051ee9c42c6"/>
    <p:sldId xmlns:r="http://schemas.openxmlformats.org/officeDocument/2006/relationships" id="259" r:id="Ree20bdd607a543c2"/>
    <p:sldId xmlns:r="http://schemas.openxmlformats.org/officeDocument/2006/relationships" id="260" r:id="Rb8a3e5a623304c1a"/>
    <p:sldId xmlns:r="http://schemas.openxmlformats.org/officeDocument/2006/relationships" id="261" r:id="R7da9aed8448b4bda"/>
    <p:sldId xmlns:r="http://schemas.openxmlformats.org/officeDocument/2006/relationships" id="262" r:id="Re7aa1ed1ca9447bf"/>
    <p:sldId xmlns:r="http://schemas.openxmlformats.org/officeDocument/2006/relationships" id="263" r:id="Re5104ce803b34fd6"/>
    <p:sldId xmlns:r="http://schemas.openxmlformats.org/officeDocument/2006/relationships" id="264" r:id="Rbcaafc59ab7a43a1"/>
    <p:sldId xmlns:r="http://schemas.openxmlformats.org/officeDocument/2006/relationships" id="265" r:id="R5b3f591767684b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6b0cc93b4540b5" /><Relationship Type="http://schemas.openxmlformats.org/officeDocument/2006/relationships/slideMaster" Target="/ppt/slideMasters/slideMaster1.xml" Id="R5677253c2c2f4723" /><Relationship Type="http://schemas.openxmlformats.org/officeDocument/2006/relationships/notesMaster" Target="/ppt/notesMasters/notesMaster1.xml" Id="R7d71d32359854786" /><Relationship Type="http://schemas.openxmlformats.org/officeDocument/2006/relationships/presProps" Target="/ppt/presProps.xml" Id="Rbbf11e6a63984569" /><Relationship Type="http://schemas.openxmlformats.org/officeDocument/2006/relationships/tableStyles" Target="/ppt/tableStyles.xml" Id="R65dd5270bd474b4d" /><Relationship Type="http://schemas.openxmlformats.org/officeDocument/2006/relationships/slide" Target="/ppt/slides/slide1.xml" Id="Rbd0045619f8a4950" /><Relationship Type="http://schemas.openxmlformats.org/officeDocument/2006/relationships/slide" Target="/ppt/slides/slide2.xml" Id="R9267faff925f4702" /><Relationship Type="http://schemas.openxmlformats.org/officeDocument/2006/relationships/slide" Target="/ppt/slides/slide3.xml" Id="R05c99051ee9c42c6" /><Relationship Type="http://schemas.openxmlformats.org/officeDocument/2006/relationships/slide" Target="/ppt/slides/slide4.xml" Id="Ree20bdd607a543c2" /><Relationship Type="http://schemas.openxmlformats.org/officeDocument/2006/relationships/slide" Target="/ppt/slides/slide5.xml" Id="Rb8a3e5a623304c1a" /><Relationship Type="http://schemas.openxmlformats.org/officeDocument/2006/relationships/slide" Target="/ppt/slides/slide6.xml" Id="R7da9aed8448b4bda" /><Relationship Type="http://schemas.openxmlformats.org/officeDocument/2006/relationships/slide" Target="/ppt/slides/slide7.xml" Id="Re7aa1ed1ca9447bf" /><Relationship Type="http://schemas.openxmlformats.org/officeDocument/2006/relationships/slide" Target="/ppt/slides/slide8.xml" Id="Re5104ce803b34fd6" /><Relationship Type="http://schemas.openxmlformats.org/officeDocument/2006/relationships/slide" Target="/ppt/slides/slide9.xml" Id="Rbcaafc59ab7a43a1" /><Relationship Type="http://schemas.openxmlformats.org/officeDocument/2006/relationships/slide" Target="/ppt/slides/slide10.xml" Id="R5b3f591767684b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b03964031b42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dd056259a74371" /><Relationship Type="http://schemas.openxmlformats.org/officeDocument/2006/relationships/notesMaster" Target="/ppt/notesMasters/notesMaster1.xml" Id="R184eb6f1d29740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b1a1ed77014b2b" /><Relationship Type="http://schemas.openxmlformats.org/officeDocument/2006/relationships/notesMaster" Target="/ppt/notesMasters/notesMaster1.xml" Id="Rd70fd0d2507a45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73776ef0a149b1" /><Relationship Type="http://schemas.openxmlformats.org/officeDocument/2006/relationships/notesMaster" Target="/ppt/notesMasters/notesMaster1.xml" Id="Rb9023c551b0c46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784dca741745f2" /><Relationship Type="http://schemas.openxmlformats.org/officeDocument/2006/relationships/notesMaster" Target="/ppt/notesMasters/notesMaster1.xml" Id="Rfc0e12ce26b746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65018da85945e8" /><Relationship Type="http://schemas.openxmlformats.org/officeDocument/2006/relationships/notesMaster" Target="/ppt/notesMasters/notesMaster1.xml" Id="R4d4cde4bc75e4d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19099ae9774ccb" /><Relationship Type="http://schemas.openxmlformats.org/officeDocument/2006/relationships/notesMaster" Target="/ppt/notesMasters/notesMaster1.xml" Id="Rcc389f6f8f474f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0ece053b664d2e" /><Relationship Type="http://schemas.openxmlformats.org/officeDocument/2006/relationships/notesMaster" Target="/ppt/notesMasters/notesMaster1.xml" Id="Rdd0d51afebd24e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26f15adc484d0f" /><Relationship Type="http://schemas.openxmlformats.org/officeDocument/2006/relationships/notesMaster" Target="/ppt/notesMasters/notesMaster1.xml" Id="Re539bcb4555747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99a5e0f5414226" /><Relationship Type="http://schemas.openxmlformats.org/officeDocument/2006/relationships/notesMaster" Target="/ppt/notesMasters/notesMaster1.xml" Id="Rea91c8b760694c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b5f18c46c04463" /><Relationship Type="http://schemas.openxmlformats.org/officeDocument/2006/relationships/notesMaster" Target="/ppt/notesMasters/notesMaster1.xml" Id="Rdc3f750330af4d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bài: giới thiệu mục tiêu là nghiên cứu một thuật toán phân loại văn bản và kiểm chứng bằng thực nghiệm. Thành viên 1 trình bày slide 1–3.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https://scikit-learn.org/stable/modules/generated/sklearn.datasets.fetch_20newsgroups.html. Bốn chủ đề được chọn từ 20 Newsgroups; dữ liệu là tiếng Anh. Thành viên 1 giải thích đầu vào và nhãn.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sẵn train/test. Fit bộ từ vựng và mô hình chỉ trên train; transform/predict trên test. Nguồn: https://scikit-learn.org/stable/auto_examples/text/plot_document_classification_20newsgroups.html. Thành viên 1 kết thúc tại đây.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https://scikit-learn.org/stable/modules/generated/sklearn.feature_extraction.text.TfidfVectorizer.html. Cả hai cách biểu diễn cung cấp đặc trưng cho cùng mô hình MultinomialNB. Thành viên 2 trình bày slide 4–6.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công thức và làm trơn: https://scikit-learn.org/stable/modules/naive_bayes.html. Giải thích giả định độc lập có điều kiện chỉ là xấp xỉ, không có nghĩa từ ngữ độc lập thật. Thành viên 2 trình bày.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câu train: thể thao gồm 'bóng đá thắng', 'bóng đá đội'; công nghệ gồm 'máy tính nhanh', 'máy tính mới'. V=8, N mỗi lớp=6, alpha=1. Điểm thể thao=9/5488; công nghệ=2/5488. Đây là ví dụ minh họa, không phải kết quả dữ liệu thật. Thành viên 2 trình bày.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dữ liệu: https://scikit-learn.org/stable/modules/generated/sklearn.datasets.fetch_20newsgroups.html. Tham số và số mẫu lấy từ results/metrics.json. Việc remove metadata theo gợi ý: https://scikit-learn.org/stable/auto_examples/text/plot_document_classification_20newsgroups.html. Thành viên 3 trình bày slide 7–10.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results/metrics.json (TF-IDF alpha=1.0) và results/evaluation_summary.json (alpha=0.1). Baseline Accuracy 87,18%, Macro F1 86,87%; tối ưu 88,52% và 88,33%. Mức tăng tính bằng điểm phần trăm.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results/evaluation_summary.json và results/error_analysis.json. Nhãn hàng là lớp thật, nhãn cột là lớp dự đoán. sci.space → talk.politics.misc: 25; talk.politics.misc → sci.space: 23. Tổng 171 mẫu sai. Không suy nguyên nhân từ số đếm; cần kiểm tra văn bản từng mẫu.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Tóm tắt: MNB phân loại được bốn chủ đề với Test Accuracy 88,52% và Macro F1 88,33% với α=0.1. Hệ thống đạt 16/16 test cases pytest, tích hợp GitHub Actions CI, cảnh báo UX, giải thích đặc trưng TF-IDF và triển khai Streamlit. Giới hạn: dữ liệu tiếng Anh, bốn lớp, một tập test, 42 văn bản test rỗng sau lọc. Hướng mở rộng: dữ liệu tiếng Việt có nhãn, validation riêng, thử n-gram. Nguồn đầy đủ trong docs/bao-cao.md. Thành viên 3 kết thúc và mời câu hỏi.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55678e1c146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76f21f632046ba" /><Relationship Type="http://schemas.openxmlformats.org/officeDocument/2006/relationships/slideLayout" Target="/ppt/slideLayouts/slideLayout1.xml" Id="R7a93734e3de04f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93734e3de04f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a7fe750874318" /><Relationship Type="http://schemas.openxmlformats.org/officeDocument/2006/relationships/notesSlide" Target="/ppt/notesSlides/notesSlide1.xml" Id="R7f966745b4fe44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1582580c24983" /><Relationship Type="http://schemas.openxmlformats.org/officeDocument/2006/relationships/notesSlide" Target="/ppt/notesSlides/notesSlide2.xml" Id="R20a0c61b745748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6e73e13ee4f52" /><Relationship Type="http://schemas.openxmlformats.org/officeDocument/2006/relationships/notesSlide" Target="/ppt/notesSlides/notesSlide3.xml" Id="R3620780910e34c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184cc2ae2a4195" /><Relationship Type="http://schemas.openxmlformats.org/officeDocument/2006/relationships/notesSlide" Target="/ppt/notesSlides/notesSlide4.xml" Id="Rc5c8fec1140144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85b2313224ec9" /><Relationship Type="http://schemas.openxmlformats.org/officeDocument/2006/relationships/notesSlide" Target="/ppt/notesSlides/notesSlide5.xml" Id="Re802a9de33014d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36f4db6ec4e9d" /><Relationship Type="http://schemas.openxmlformats.org/officeDocument/2006/relationships/notesSlide" Target="/ppt/notesSlides/notesSlide6.xml" Id="R7b574f5dc2b749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a6ba99ae14247" /><Relationship Type="http://schemas.openxmlformats.org/officeDocument/2006/relationships/notesSlide" Target="/ppt/notesSlides/notesSlide7.xml" Id="R3aa061f5737641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23c8d81774406" /><Relationship Type="http://schemas.openxmlformats.org/officeDocument/2006/relationships/chart" Target="/ppt/slides/charts/chart1.xml" Id="R564569b9394d4980" /><Relationship Type="http://schemas.openxmlformats.org/officeDocument/2006/relationships/notesSlide" Target="/ppt/notesSlides/notesSlide8.xml" Id="R40c7b2948ab047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84f34f1234b30" /><Relationship Type="http://schemas.openxmlformats.org/officeDocument/2006/relationships/notesSlide" Target="/ppt/notesSlides/notesSlide9.xml" Id="Rc16d7c400f1e4b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ea5223b884966" /><Relationship Type="http://schemas.openxmlformats.org/officeDocument/2006/relationships/notesSlide" Target="/ppt/notesSlides/notesSlide10.xml" Id="R47c12cf4a01e41b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Cơ sở (α=1.0)</c:v>
          </c:tx>
          <c:spPr>
            <a:solidFill xmlns:a="http://schemas.openxmlformats.org/drawingml/2006/main">
              <a:srgbClr val="496373"/>
            </a:solidFill>
          </c:spPr>
          <c:cat>
            <c:strRef>
              <c:f>'Chart Data'!$A$2:$A$3</c:f>
              <c:strCache>
                <c:ptCount val="2"/>
                <c:pt idx="0">
                  <c:v>Accuracy</c:v>
                </c:pt>
                <c:pt idx="1">
                  <c:v>Macro F1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87.18</c:v>
                </c:pt>
                <c:pt idx="1">
                  <c:v>86.87</c:v>
                </c:pt>
              </c:numCache>
            </c:numRef>
          </c:val>
        </c:ser>
        <c:ser>
          <c:idx val="1"/>
          <c:order val="1"/>
          <c:tx>
            <c:v>Tối ưu (α=0.1)</c:v>
          </c:tx>
          <c:spPr>
            <a:solidFill xmlns:a="http://schemas.openxmlformats.org/drawingml/2006/main">
              <a:srgbClr val="00858F"/>
            </a:solidFill>
          </c:spPr>
          <c:cat>
            <c:strRef>
              <c:f>'Chart Data'!$C$2:$C$3</c:f>
              <c:strCache>
                <c:ptCount val="2"/>
                <c:pt idx="0">
                  <c:v>Accuracy</c:v>
                </c:pt>
                <c:pt idx="1">
                  <c:v>Macro F1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88.52</c:v>
                </c:pt>
                <c:pt idx="1">
                  <c:v>88.33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A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837BD-5D50-42CC-93F2-4EC6C729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LOẠI VĂN BẢN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60005F-44CA-4CCE-AEAC-D02517D7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47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B7E8E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B7E8E5"/>
                </a:solidFill>
                <a:latin typeface="Arial"/>
                <a:ea typeface="Arial"/>
                <a:cs typeface="Arial"/>
              </a:rPr>
              <a:t>bằng Naive Bayes đa thức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463A51-1992-4C0B-9982-1185F5B8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86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Giảng viên: ........................................................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B22C6-FA70-4CCA-938D-3FEDFCEA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HỌC VIỆN CÔNG NGHỆ BƯU CHÍNH VIỄN THÔNG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E2D2B-23B0-4479-ABD2-E1B5F3CA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Lại Huy Thịnh — N23DVCN057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Nguyễn Trần Mạnh Dũng — N23DVCN01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Nguyễn Hữu Đức — N23DVCN012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0490A-4106-42FD-8052-5570ACD4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Môn Trí tuệ nhân tạo · Lớp D23VHCN01-N</a:t>
            </a:r>
          </a:p>
        </p:txBody>
      </p:sp>
    </p:spTree>
    <p:extLst>
      <p:ext uri="{BB962C8B-B14F-4D97-AF65-F5344CB8AC3E}">
        <p14:creationId xmlns:p14="http://schemas.microsoft.com/office/powerpoint/2010/main" val="11229986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15AAA-F9E8-4FCF-AF9C-EEB2AC9E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Bài toán và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80D22-3CB5-4325-B4FA-E93297C5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1A096-9ABB-4C5B-9AF9-93320D20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644BC-E011-4030-91B5-6EDA75DB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38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Nội dung một bài đăng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02CE9-6FC7-4E6D-93DA-CF046377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954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B282B3-8AC5-45BC-823D-D9E0BECA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Một trong bốn chủ đề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DDB3B-1E67-41B7-BF93-C6B8E392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Đồ họa máy tính</a:t>
            </a:r>
          </a:p>
          <a:p xmlns:a="http://schemas.openxmlformats.org/drawingml/2006/main">
            <a:pPr>
              <a:buNone/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Bóng chày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7D9A1-74DE-4562-AE5E-437A1952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Không gian</a:t>
            </a:r>
          </a:p>
          <a:p xmlns:a="http://schemas.openxmlformats.org/drawingml/2006/main">
            <a:pPr>
              <a:buNone/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Chính trị tổng hợp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70BCD-47F8-4A45-BBAD-AA22A34F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48325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Dữ liệu: 20 Newsgroups, tập train và test có sẵn</a:t>
            </a:r>
          </a:p>
        </p:txBody>
      </p:sp>
    </p:spTree>
    <p:extLst>
      <p:ext uri="{BB962C8B-B14F-4D97-AF65-F5344CB8AC3E}">
        <p14:creationId xmlns:p14="http://schemas.microsoft.com/office/powerpoint/2010/main" val="1438046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53A9CB-FA38-4B7A-8EAE-090CF208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Quy trình phân loại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17910-9988-4C58-98AA-A6763E6C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705F6-B979-4196-AF32-2FBB2E1D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1  Văn bản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FF94FC-30AE-454A-832E-23C25BFF1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62125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2  Véc-tơ từ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1686C-F7CB-4FE7-B676-1D8AA149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3  Naive Bayes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9CFB4-616D-4D88-8103-7ECC924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76650"/>
            <a:ext cx="485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4  Nhãn dự đoán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7ECB9-995A-4D87-8D7A-2BC4DA30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Từ ngữ trong bài viết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EA1AA-E41A-4A21-822B-24CF6EA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Bag of Words hoặc TF-IDF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1C435-C145-4214-B2A7-B97540B6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Tính điểm cho từng lớp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24422-10EF-410A-8C44-D910B1C5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4825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Chọn lớp có điểm cao nhất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D6642-EECF-4152-80D3-2D2BEC1B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Fit trên train; test chỉ dùng để đánh giá</a:t>
            </a:r>
          </a:p>
        </p:txBody>
      </p:sp>
    </p:spTree>
    <p:extLst>
      <p:ext uri="{BB962C8B-B14F-4D97-AF65-F5344CB8AC3E}">
        <p14:creationId xmlns:p14="http://schemas.microsoft.com/office/powerpoint/2010/main" val="4956078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F8AFB-F660-4DC3-92EB-71D517A4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Hai cách biểu diễn văn bản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A0A09-888C-43FC-8AFB-372E124B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80833-2B60-46EA-A07B-34DDF008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Bag of Words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07EB8-33C0-483E-952E-AB007CC7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Đếm số lần mỗi từ xuất hiện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904FF-97C0-40D6-ACA9-2DEED1A9F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“bóng đá bóng” → [2, 1, 0]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372FF5-3493-43E8-9E46-A4452035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TF-IDF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1A8AD-D905-4082-A1D7-8F79989F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4792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Giảm trọng số từ xuất hiện ở nhiều tài liệu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32AEA-0E30-4B52-8E79-8040BFA0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5623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Vẫn giữ véc-tơ không âm cho MNB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330F7-DC85-4C8F-BD7D-A19B7F54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8162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Cả hai không giữ thứ tự dài giữa các từ</a:t>
            </a:r>
          </a:p>
        </p:txBody>
      </p:sp>
    </p:spTree>
    <p:extLst>
      <p:ext uri="{BB962C8B-B14F-4D97-AF65-F5344CB8AC3E}">
        <p14:creationId xmlns:p14="http://schemas.microsoft.com/office/powerpoint/2010/main" val="2055658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69BE7-ABEA-4C52-842B-112CF018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Multinomial Naive Bayes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41EA4-33F1-4CDB-B434-E1076351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D32C5E-06BA-4FB4-8CEE-308B35F2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P(c | d) ∝ P(d | c) P(c)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7A5F1-F44C-46DD-9455-6046B0D3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score(c, x) = log P(c) + Σᵢ xᵢ log θ(c,i)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BC07B-8E82-4C3F-8D4D-0850D6B9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θ(c,i) = [N(c,i) + α] / [N(c) + αV]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8A371-E82A-4032-B274-6AA99363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α = 1: làm trơn Laplace để từ chưa thấy không có xác suất bằng 0</a:t>
            </a:r>
          </a:p>
        </p:txBody>
      </p:sp>
    </p:spTree>
    <p:extLst>
      <p:ext uri="{BB962C8B-B14F-4D97-AF65-F5344CB8AC3E}">
        <p14:creationId xmlns:p14="http://schemas.microsoft.com/office/powerpoint/2010/main" val="19204434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7BD294-82EB-4258-AB28-60C6D478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Ví dụ tính tay: “bóng đá mới”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75274-1F6C-4384-934E-C2F1178D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375CF-D010-4B36-BF7E-C2D50586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526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Từ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5D9FB-E4E1-439A-A894-FDFC486E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526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Thể thao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F0B0C-144F-4229-8F2E-29500631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526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A1AEB7-FC94-4673-AA77-7C517BBC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bóng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12A23-B6E2-474F-BF56-19105056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3/14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43307-E4EB-43E0-8E3C-CB431CAE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717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1/14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D9D05-F335-4C75-89E0-1CA4C392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43275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đá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61BF7D-C134-4977-BF94-B3F3CA54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432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3/14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AE96B-F025-4AB6-A36E-B68535B1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432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1/14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605A12-3857-48BD-A49C-B1C960C7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14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mới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DE37F-CEF3-414B-BD25-D7E84E4F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148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1/14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E0A7C-990E-471F-AD8A-CB494BBB5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148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6B1DB-3934-40B2-96FE-FB24D2AC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768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Điểm Thể thao = 9/5488    &gt;    Công nghệ = 2/5488</a:t>
            </a:r>
          </a:p>
        </p:txBody>
      </p:sp>
    </p:spTree>
    <p:extLst>
      <p:ext uri="{BB962C8B-B14F-4D97-AF65-F5344CB8AC3E}">
        <p14:creationId xmlns:p14="http://schemas.microsoft.com/office/powerpoint/2010/main" val="2497605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C03D2-A0B4-436F-83F0-33E462AFA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Thiết kế thực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1C545-8A41-4233-B4ED-6E23C652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7BC97-8418-437F-A597-81E3F6B7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85925"/>
            <a:ext cx="3905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2.239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0D7D6-5222-4AAB-9177-410D2661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mẫu train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DAF4A-664C-4614-987C-49468F3F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85925"/>
            <a:ext cx="4000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050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1.490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7FC72-161E-4F33-BCC6-D8DE1BD6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24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mẫu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F727D-C28E-4143-A3FE-B707B1F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719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MultinomialNB: Tối ưu α = 0.1 qua 5-Fold CV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798D3-117A-4674-82D5-4D5026F7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862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TfidfVectorizer 13.068 đặc trưng, chống Data Leakage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76927-D9B6-468E-921F-14BAB1FB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1970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Loại header, chữ ký, trích dẫn trước khi học</a:t>
            </a:r>
          </a:p>
        </p:txBody>
      </p:sp>
    </p:spTree>
    <p:extLst>
      <p:ext uri="{BB962C8B-B14F-4D97-AF65-F5344CB8AC3E}">
        <p14:creationId xmlns:p14="http://schemas.microsoft.com/office/powerpoint/2010/main" val="18327611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089A7-CE14-4525-BF81-A0113A37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Kết quả trên tập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63572-9923-4C42-8551-0A88BE81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3DECB-C1B9-4593-8DE3-A29462EE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476875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Accuracy tăng 1,34 điểm phần trăm; Macro F1 tăng 1,46 điểm phần trăm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57250" y="1714500"/>
          <a:ext xmlns:a="http://schemas.openxmlformats.org/drawingml/2006/main" cx="10096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4569b9394d4980"/>
          </a:graphicData>
        </a:graphic>
      </p:graphicFrame>
    </p:spTree>
    <p:extLst>
      <p:ext uri="{BB962C8B-B14F-4D97-AF65-F5344CB8AC3E}">
        <p14:creationId xmlns:p14="http://schemas.microsoft.com/office/powerpoint/2010/main" val="6424403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228EF-286A-466E-B84F-13B4EC3F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Các cặp chủ đề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C3592-4231-4B48-9B09-619346C5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D4523-414F-4404-ADC3-C6AF89E5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Vũ trụ bị dự đoán thành Chính trị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81C80-F4D1-4C57-8B60-74F30627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07E87"/>
                </a:solidFill>
                <a:latin typeface="Arial"/>
                <a:ea typeface="Arial"/>
                <a:cs typeface="Arial"/>
              </a:rPr>
              <a:t>25 mẫu sai trong 394 mẫu Vũ trụ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864E8-20CC-46B7-9D39-EF10F794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Chính trị bị dự đoán thành Vũ trụ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CF17B-8E70-4B97-AF74-4340AD7A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38625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0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007E87"/>
                </a:solidFill>
                <a:latin typeface="Arial"/>
                <a:ea typeface="Arial"/>
                <a:cs typeface="Arial"/>
              </a:rPr>
              <a:t>23 mẫu sai trong 310 mẫu Chính trị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6C2B2-6CE0-46D9-87F3-3CB60867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171 mẫu sai / 1.490 mẫu test; cần xem từng văn bản để giải thích lỗi</a:t>
            </a:r>
          </a:p>
        </p:txBody>
      </p:sp>
    </p:spTree>
    <p:extLst>
      <p:ext uri="{BB962C8B-B14F-4D97-AF65-F5344CB8AC3E}">
        <p14:creationId xmlns:p14="http://schemas.microsoft.com/office/powerpoint/2010/main" val="1226531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06DF0-A2C2-4CCA-A25E-FE81C99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A3B"/>
                </a:solidFill>
                <a:latin typeface="Arial"/>
                <a:ea typeface="Arial"/>
                <a:cs typeface="Arial"/>
              </a:rPr>
              <a:t>Kết luận và giới hạn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29048-CFD6-4BE3-B7DE-193B08C3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9616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9616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71CCB-DE64-4354-89E1-85896F68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007E8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E87"/>
                </a:solidFill>
                <a:latin typeface="Arial"/>
                <a:ea typeface="Arial"/>
                <a:cs typeface="Arial"/>
              </a:rPr>
              <a:t>MNB là mô hình đơn giản, dễ giải thích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76048D-B84D-4875-9D20-BC4FAFFC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Mô hình tối ưu α=0.1: Test Accuracy 88,52%, Macro F1 88,33%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DBB46-F43C-4280-8016-6B0700A9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57625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Giới hạn: dữ liệu tiếng Anh, bốn lớp, một tập 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2D0D4-644B-4F37-891D-A424B609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42A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A3B"/>
                </a:solidFill>
                <a:latin typeface="Arial"/>
                <a:ea typeface="Arial"/>
                <a:cs typeface="Arial"/>
              </a:rPr>
              <a:t>27 kiểm thử đạt; demo Streamlit công khai và phương án chạy localhost</a:t>
            </a:r>
          </a:p>
        </p:txBody>
      </p:sp>
    </p:spTree>
    <p:extLst>
      <p:ext uri="{BB962C8B-B14F-4D97-AF65-F5344CB8AC3E}">
        <p14:creationId xmlns:p14="http://schemas.microsoft.com/office/powerpoint/2010/main" val="1022506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2026-09-30T19:07:34.2660000Z</dcterms:created>
  <dcterms:modified xsi:type="dcterms:W3CDTF">2026-09-30T19:07:34.2670000Z</dcterms:modified>
</coreProperties>
</file>