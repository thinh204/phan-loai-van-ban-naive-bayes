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741f586c9bd412e" /><Relationship Type="http://schemas.openxmlformats.org/officeDocument/2006/relationships/extended-properties" Target="/docProps/app.xml" Id="R5950010a86184e92" /><Relationship Type="http://schemas.openxmlformats.org/officeDocument/2006/relationships/officeDocument" Target="/ppt/presentation.xml" Id="R84ae37c237674bf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5826b9e9f584855"/>
  </p:sldMasterIdLst>
  <p:notesMasterIdLst>
    <p:notesMasterId xmlns:r="http://schemas.openxmlformats.org/officeDocument/2006/relationships" r:id="Rffca4dae472d472d"/>
  </p:notesMasterIdLst>
  <p:sldIdLst>
    <p:sldId xmlns:r="http://schemas.openxmlformats.org/officeDocument/2006/relationships" id="256" r:id="Rbfb8aa8d77234416"/>
    <p:sldId xmlns:r="http://schemas.openxmlformats.org/officeDocument/2006/relationships" id="257" r:id="Rbf73a73e97f34c1b"/>
    <p:sldId xmlns:r="http://schemas.openxmlformats.org/officeDocument/2006/relationships" id="258" r:id="Re8bff40c6afa43ff"/>
    <p:sldId xmlns:r="http://schemas.openxmlformats.org/officeDocument/2006/relationships" id="259" r:id="R51c9d792053845b9"/>
    <p:sldId xmlns:r="http://schemas.openxmlformats.org/officeDocument/2006/relationships" id="260" r:id="R3538fc10f4e5423d"/>
    <p:sldId xmlns:r="http://schemas.openxmlformats.org/officeDocument/2006/relationships" id="261" r:id="R41c185fa34de4a8f"/>
    <p:sldId xmlns:r="http://schemas.openxmlformats.org/officeDocument/2006/relationships" id="262" r:id="R67e278b46e1d4527"/>
    <p:sldId xmlns:r="http://schemas.openxmlformats.org/officeDocument/2006/relationships" id="263" r:id="Rb6189f95e6c74592"/>
    <p:sldId xmlns:r="http://schemas.openxmlformats.org/officeDocument/2006/relationships" id="264" r:id="Reca88228d40c4262"/>
    <p:sldId xmlns:r="http://schemas.openxmlformats.org/officeDocument/2006/relationships" id="265" r:id="R5f4e0c702d4d4ad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b8ec65058d04c66" /><Relationship Type="http://schemas.openxmlformats.org/officeDocument/2006/relationships/slideMaster" Target="/ppt/slideMasters/slideMaster1.xml" Id="Rc5826b9e9f584855" /><Relationship Type="http://schemas.openxmlformats.org/officeDocument/2006/relationships/notesMaster" Target="/ppt/notesMasters/notesMaster1.xml" Id="Rffca4dae472d472d" /><Relationship Type="http://schemas.openxmlformats.org/officeDocument/2006/relationships/presProps" Target="/ppt/presProps.xml" Id="R62bd42643f794411" /><Relationship Type="http://schemas.openxmlformats.org/officeDocument/2006/relationships/tableStyles" Target="/ppt/tableStyles.xml" Id="R7df6f9ca71ce4ebb" /><Relationship Type="http://schemas.openxmlformats.org/officeDocument/2006/relationships/slide" Target="/ppt/slides/slide1.xml" Id="Rbfb8aa8d77234416" /><Relationship Type="http://schemas.openxmlformats.org/officeDocument/2006/relationships/slide" Target="/ppt/slides/slide2.xml" Id="Rbf73a73e97f34c1b" /><Relationship Type="http://schemas.openxmlformats.org/officeDocument/2006/relationships/slide" Target="/ppt/slides/slide3.xml" Id="Re8bff40c6afa43ff" /><Relationship Type="http://schemas.openxmlformats.org/officeDocument/2006/relationships/slide" Target="/ppt/slides/slide4.xml" Id="R51c9d792053845b9" /><Relationship Type="http://schemas.openxmlformats.org/officeDocument/2006/relationships/slide" Target="/ppt/slides/slide5.xml" Id="R3538fc10f4e5423d" /><Relationship Type="http://schemas.openxmlformats.org/officeDocument/2006/relationships/slide" Target="/ppt/slides/slide6.xml" Id="R41c185fa34de4a8f" /><Relationship Type="http://schemas.openxmlformats.org/officeDocument/2006/relationships/slide" Target="/ppt/slides/slide7.xml" Id="R67e278b46e1d4527" /><Relationship Type="http://schemas.openxmlformats.org/officeDocument/2006/relationships/slide" Target="/ppt/slides/slide8.xml" Id="Rb6189f95e6c74592" /><Relationship Type="http://schemas.openxmlformats.org/officeDocument/2006/relationships/slide" Target="/ppt/slides/slide9.xml" Id="Reca88228d40c4262" /><Relationship Type="http://schemas.openxmlformats.org/officeDocument/2006/relationships/slide" Target="/ppt/slides/slide10.xml" Id="R5f4e0c702d4d4ad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26c8ee5ca66495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25409503abb4619" /><Relationship Type="http://schemas.openxmlformats.org/officeDocument/2006/relationships/notesMaster" Target="/ppt/notesMasters/notesMaster1.xml" Id="R76d97ea83a394bf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10bb8ee2a2741ed" /><Relationship Type="http://schemas.openxmlformats.org/officeDocument/2006/relationships/notesMaster" Target="/ppt/notesMasters/notesMaster1.xml" Id="R5dd7a4b070f94ee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b4637cca88a4905" /><Relationship Type="http://schemas.openxmlformats.org/officeDocument/2006/relationships/notesMaster" Target="/ppt/notesMasters/notesMaster1.xml" Id="Ra4af7dab70f84e7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24c22a08eab4219" /><Relationship Type="http://schemas.openxmlformats.org/officeDocument/2006/relationships/notesMaster" Target="/ppt/notesMasters/notesMaster1.xml" Id="R9db18044fe8e437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004e4330f1a4ee6" /><Relationship Type="http://schemas.openxmlformats.org/officeDocument/2006/relationships/notesMaster" Target="/ppt/notesMasters/notesMaster1.xml" Id="R4e979e9969724ff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60ea64b04f448d2" /><Relationship Type="http://schemas.openxmlformats.org/officeDocument/2006/relationships/notesMaster" Target="/ppt/notesMasters/notesMaster1.xml" Id="R4a0648940fec476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584b1bafff24ae8" /><Relationship Type="http://schemas.openxmlformats.org/officeDocument/2006/relationships/notesMaster" Target="/ppt/notesMasters/notesMaster1.xml" Id="Rcb545e0671e1477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ae4cde2447a456d" /><Relationship Type="http://schemas.openxmlformats.org/officeDocument/2006/relationships/notesMaster" Target="/ppt/notesMasters/notesMaster1.xml" Id="R43c14e4cf2c2478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02ac29d54724baa" /><Relationship Type="http://schemas.openxmlformats.org/officeDocument/2006/relationships/notesMaster" Target="/ppt/notesMasters/notesMaster1.xml" Id="Ra61226fba7564dd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da8815cec4e43e5" /><Relationship Type="http://schemas.openxmlformats.org/officeDocument/2006/relationships/notesMaster" Target="/ppt/notesMasters/notesMaster1.xml" Id="Re981ed1375144c7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Mở bài: giới thiệu mục tiêu là nghiên cứu một thuật toán phân loại văn bản và kiểm chứng bằng thực nghiệm. Thành viên 1 trình bày slide 1–3.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Nguồn: https://scikit-learn.org/stable/modules/generated/sklearn.datasets.fetch_20newsgroups.html. Bốn chủ đề được chọn từ 20 Newsgroups; dữ liệu là tiếng Anh. Thành viên 1 giải thích đầu vào và nhãn.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Tách sẵn train/test. Fit bộ từ vựng và mô hình chỉ trên train; transform/predict trên test. Nguồn: https://scikit-learn.org/stable/auto_examples/text/plot_document_classification_20newsgroups.html. Thành viên 1 kết thúc tại đây.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Nguồn: https://scikit-learn.org/stable/modules/generated/sklearn.feature_extraction.text.TfidfVectorizer.html. Cả hai cách biểu diễn cung cấp đặc trưng cho cùng mô hình MultinomialNB. Thành viên 2 trình bày slide 4–6.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 công thức và làm trơn: https://scikit-learn.org/stable/modules/naive_bayes.html. Giải thích giả định độc lập có điều kiện chỉ là xấp xỉ, không có nghĩa từ ngữ độc lập thật. Thành viên 2 trình bày.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Bốn câu train: thể thao gồm 'bóng đá thắng', 'bóng đá đội'; công nghệ gồm 'máy tính nhanh', 'máy tính mới'. V=8, N mỗi lớp=6, alpha=1. Điểm thể thao=9/5488; công nghệ=2/5488. Đây là ví dụ minh họa, không phải kết quả dữ liệu thật. Thành viên 2 trình bày.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 dữ liệu: https://scikit-learn.org/stable/modules/generated/sklearn.datasets.fetch_20newsgroups.html. Tham số và số mẫu lấy từ results/metrics.json. Việc remove metadata theo gợi ý: https://scikit-learn.org/stable/auto_examples/text/plot_document_classification_20newsgroups.html. Thành viên 3 trình bày slide 7–10.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Nguồn: results/metrics.json, tạo bởi src/run_experiment.py với scikit-learn 1.7.2. Accuracy Count 0.8544, TF-IDF 0.8718; macro F1 Count 0.8520, TF-IDF 0.8687. Chênh lệch chỉ áp dụng cho cấu hình này. Thành viên 3 trình bày.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Nguồn: results/confusion_count.csv và results/confusion_tfidf.csv. Space→Politics giảm 62 xuống 14; Politics→Space tăng 15 lên 45. Recall politics giảm 0.900 xuống 0.758. 42 mẫu test rỗng sau lọc. Không diễn giải đây là nguyên nhân duy nhất. Thành viên 3 trình bày.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Tóm tắt: MNB phân loại được bốn chủ đề với macro F1 0.8687 khi dùng TF-IDF. Giới hạn: dữ liệu tiếng Anh, bốn lớp, một tập test, 42 văn bản test rỗng sau lọc. Hướng mở rộng: dữ liệu tiếng Việt có nhãn, validation riêng, thử n-gram. Nguồn đầy đủ trong docs/bao-cao.md. Thành viên 3 kết thúc và mời câu hỏi.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00cdb1c5ccb489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e60d6f8476740c3" /><Relationship Type="http://schemas.openxmlformats.org/officeDocument/2006/relationships/slideLayout" Target="/ppt/slideLayouts/slideLayout1.xml" Id="R0b8c1f5d46514be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b8c1f5d46514be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1ddaebf7d24ebe" /><Relationship Type="http://schemas.openxmlformats.org/officeDocument/2006/relationships/notesSlide" Target="/ppt/notesSlides/notesSlide1.xml" Id="R55cc001d6e14416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d3e4726e3244ab" /><Relationship Type="http://schemas.openxmlformats.org/officeDocument/2006/relationships/notesSlide" Target="/ppt/notesSlides/notesSlide2.xml" Id="R12ad8d72bf67474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c9e099eaaa4639" /><Relationship Type="http://schemas.openxmlformats.org/officeDocument/2006/relationships/notesSlide" Target="/ppt/notesSlides/notesSlide3.xml" Id="Rdfe8f97f3231481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16edc15c044f5e" /><Relationship Type="http://schemas.openxmlformats.org/officeDocument/2006/relationships/notesSlide" Target="/ppt/notesSlides/notesSlide4.xml" Id="R89cd7da756a04ec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80fc1fdba04ea7" /><Relationship Type="http://schemas.openxmlformats.org/officeDocument/2006/relationships/notesSlide" Target="/ppt/notesSlides/notesSlide5.xml" Id="R27630fa43fc5428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0fe18b9c884ecd" /><Relationship Type="http://schemas.openxmlformats.org/officeDocument/2006/relationships/notesSlide" Target="/ppt/notesSlides/notesSlide6.xml" Id="Ra6b604fd34414bd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76799b2ea04a03" /><Relationship Type="http://schemas.openxmlformats.org/officeDocument/2006/relationships/notesSlide" Target="/ppt/notesSlides/notesSlide7.xml" Id="R42362b4621884e2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0fb5dc8dd04dbe" /><Relationship Type="http://schemas.openxmlformats.org/officeDocument/2006/relationships/chart" Target="/ppt/slides/charts/chart1.xml" Id="R291d2472c49d46f9" /><Relationship Type="http://schemas.openxmlformats.org/officeDocument/2006/relationships/notesSlide" Target="/ppt/notesSlides/notesSlide8.xml" Id="R61c72c247a1e4a5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96b1eeaf884a84" /><Relationship Type="http://schemas.openxmlformats.org/officeDocument/2006/relationships/notesSlide" Target="/ppt/notesSlides/notesSlide9.xml" Id="R868167ddde63494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912cca5cc044a9" /><Relationship Type="http://schemas.openxmlformats.org/officeDocument/2006/relationships/notesSlide" Target="/ppt/notesSlides/notesSlide10.xml" Id="R085f38057ff248cb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Bag of Words</c:v>
          </c:tx>
          <c:spPr>
            <a:solidFill xmlns:a="http://schemas.openxmlformats.org/drawingml/2006/main">
              <a:srgbClr val="49616E"/>
            </a:solidFill>
          </c:spPr>
          <c:cat>
            <c:strRef>
              <c:f>'Chart Data'!$A$2:$A$3</c:f>
              <c:strCache>
                <c:ptCount val="2"/>
                <c:pt idx="0">
                  <c:v>Accuracy</c:v>
                </c:pt>
                <c:pt idx="1">
                  <c:v>Macro F1</c:v>
                </c:pt>
              </c:strCache>
            </c:strRef>
          </c:cat>
          <c:val>
            <c:numRef>
              <c:f>'Chart Data'!$B$2:$B$3</c:f>
              <c:numCache>
                <c:formatCode>General</c:formatCode>
                <c:ptCount val="2"/>
                <c:pt idx="0">
                  <c:v>85.44</c:v>
                </c:pt>
                <c:pt idx="1">
                  <c:v>85.2</c:v>
                </c:pt>
              </c:numCache>
            </c:numRef>
          </c:val>
        </c:ser>
        <c:ser>
          <c:idx val="1"/>
          <c:order val="1"/>
          <c:tx>
            <c:v>TF-IDF</c:v>
          </c:tx>
          <c:spPr>
            <a:solidFill xmlns:a="http://schemas.openxmlformats.org/drawingml/2006/main">
              <a:srgbClr val="007E87"/>
            </a:solidFill>
          </c:spPr>
          <c:cat>
            <c:strRef>
              <c:f>'Chart Data'!$C$2:$C$3</c:f>
              <c:strCache>
                <c:ptCount val="2"/>
                <c:pt idx="0">
                  <c:v>Accuracy</c:v>
                </c:pt>
                <c:pt idx="1">
                  <c:v>Macro F1</c:v>
                </c:pt>
              </c:strCache>
            </c:strRef>
          </c:cat>
          <c:val>
            <c:numRef>
              <c:f>'Chart Data'!$D$2:$D$3</c:f>
              <c:numCache>
                <c:formatCode>General</c:formatCode>
                <c:ptCount val="2"/>
                <c:pt idx="0">
                  <c:v>87.18</c:v>
                </c:pt>
                <c:pt idx="1">
                  <c:v>86.87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350" b="1">
                  <a:solidFill>
                    <a:srgbClr val="142A3B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49616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solidFill>
                <a:srgbClr val="49616E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42A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0837BD-5D50-42CC-93F2-4EC6C729A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28750"/>
            <a:ext cx="1047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PHÂN LOẠI VĂN BẢN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60005F-44CA-4CCE-AEAC-D02517D70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81250"/>
            <a:ext cx="10477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0">
                <a:solidFill>
                  <a:srgbClr val="B7E8E5"/>
                </a:solidFill>
                <a:latin typeface="Arial"/>
                <a:ea typeface="Arial"/>
                <a:cs typeface="Arial"/>
              </a:defRPr>
            </a:pPr>
            <a:r>
              <a:rPr sz="3450" b="0">
                <a:solidFill>
                  <a:srgbClr val="B7E8E5"/>
                </a:solidFill>
                <a:latin typeface="Arial"/>
                <a:ea typeface="Arial"/>
                <a:cs typeface="Arial"/>
              </a:rPr>
              <a:t>bằng Naive Bayes đa thức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463A51-1992-4C0B-9982-1185F5B89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86375"/>
            <a:ext cx="1000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Môn Trí tuệ nhân tạo  ·  Nhóm 3 thành viên</a:t>
            </a:r>
          </a:p>
        </p:txBody>
      </p:sp>
    </p:spTree>
    <p:extLst>
      <p:ext uri="{BB962C8B-B14F-4D97-AF65-F5344CB8AC3E}">
        <p14:creationId xmlns:p14="http://schemas.microsoft.com/office/powerpoint/2010/main" val="112299866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715AAA-F9E8-4FCF-AF9C-EEB2AC9E9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820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42A3B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42A3B"/>
                </a:solidFill>
                <a:latin typeface="Arial"/>
                <a:ea typeface="Arial"/>
                <a:cs typeface="Arial"/>
              </a:rPr>
              <a:t>Bài toán và dữ liệu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F80D22-3CB5-4325-B4FA-E93297C55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67450"/>
            <a:ext cx="419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49616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9616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61A096-9ABB-4C5B-9AF9-93320D200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95450"/>
            <a:ext cx="333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07E87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7E87"/>
                </a:solidFill>
                <a:latin typeface="Arial"/>
                <a:ea typeface="Arial"/>
                <a:cs typeface="Arial"/>
              </a:rPr>
              <a:t>Đầu vào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1644BC-E011-4030-91B5-6EDA75DB6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47900"/>
            <a:ext cx="4381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42A3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42A3B"/>
                </a:solidFill>
                <a:latin typeface="Arial"/>
                <a:ea typeface="Arial"/>
                <a:cs typeface="Arial"/>
              </a:rPr>
              <a:t>Nội dung một bài đăng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902CE9-6FC7-4E6D-93DA-CF0463776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95450"/>
            <a:ext cx="333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07E87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7E87"/>
                </a:solidFill>
                <a:latin typeface="Arial"/>
                <a:ea typeface="Arial"/>
                <a:cs typeface="Arial"/>
              </a:rPr>
              <a:t>Đầu 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B282B3-8AC5-45BC-823D-D9E0BECA7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247900"/>
            <a:ext cx="476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42A3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42A3B"/>
                </a:solidFill>
                <a:latin typeface="Arial"/>
                <a:ea typeface="Arial"/>
                <a:cs typeface="Arial"/>
              </a:rPr>
              <a:t>Một trong bốn chủ đề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3DDB3B-1E67-41B7-BF93-C6B8E3920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62350"/>
            <a:ext cx="4762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42A3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42A3B"/>
                </a:solidFill>
                <a:latin typeface="Arial"/>
                <a:ea typeface="Arial"/>
                <a:cs typeface="Arial"/>
              </a:rPr>
              <a:t>Đồ họa máy tính</a:t>
            </a:r>
          </a:p>
          <a:p xmlns:a="http://schemas.openxmlformats.org/drawingml/2006/main">
            <a:pPr>
              <a:defRPr sz="2175" b="0">
                <a:solidFill>
                  <a:srgbClr val="142A3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42A3B"/>
                </a:solidFill>
                <a:latin typeface="Arial"/>
                <a:ea typeface="Arial"/>
                <a:cs typeface="Arial"/>
              </a:rPr>
              <a:t>Bóng chày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47D9A1-74DE-4562-AE5E-437A19529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562350"/>
            <a:ext cx="4762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42A3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42A3B"/>
                </a:solidFill>
                <a:latin typeface="Arial"/>
                <a:ea typeface="Arial"/>
                <a:cs typeface="Arial"/>
              </a:rPr>
              <a:t>Không gian</a:t>
            </a:r>
          </a:p>
          <a:p xmlns:a="http://schemas.openxmlformats.org/drawingml/2006/main">
            <a:pPr>
              <a:defRPr sz="2175" b="0">
                <a:solidFill>
                  <a:srgbClr val="142A3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42A3B"/>
                </a:solidFill>
                <a:latin typeface="Arial"/>
                <a:ea typeface="Arial"/>
                <a:cs typeface="Arial"/>
              </a:rPr>
              <a:t>Chính trị tổng hợp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670BCD-47F8-4A45-BBAD-AA22A34FB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48325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49616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49616E"/>
                </a:solidFill>
                <a:latin typeface="Arial"/>
                <a:ea typeface="Arial"/>
                <a:cs typeface="Arial"/>
              </a:rPr>
              <a:t>Dữ liệu: 20 Newsgroups, tập train và test có sẵn</a:t>
            </a:r>
          </a:p>
        </p:txBody>
      </p:sp>
    </p:spTree>
    <p:extLst>
      <p:ext uri="{BB962C8B-B14F-4D97-AF65-F5344CB8AC3E}">
        <p14:creationId xmlns:p14="http://schemas.microsoft.com/office/powerpoint/2010/main" val="143804694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53A9CB-FA38-4B7A-8EAE-090CF208F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820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42A3B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42A3B"/>
                </a:solidFill>
                <a:latin typeface="Arial"/>
                <a:ea typeface="Arial"/>
                <a:cs typeface="Arial"/>
              </a:rPr>
              <a:t>Quy trình phân loại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517910-9988-4C58-98AA-A6763E6C5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67450"/>
            <a:ext cx="419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49616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9616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3705F6-B979-4196-AF32-2FBB2E1D3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62125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07E87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07E87"/>
                </a:solidFill>
                <a:latin typeface="Arial"/>
                <a:ea typeface="Arial"/>
                <a:cs typeface="Arial"/>
              </a:rPr>
              <a:t>1  Văn bản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FF94FC-30AE-454A-832E-23C25BFF1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62125"/>
            <a:ext cx="4857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07E87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07E87"/>
                </a:solidFill>
                <a:latin typeface="Arial"/>
                <a:ea typeface="Arial"/>
                <a:cs typeface="Arial"/>
              </a:rPr>
              <a:t>2  Véc-tơ từ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11686C-F7CB-4FE7-B676-1D8AA149D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76650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07E87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07E87"/>
                </a:solidFill>
                <a:latin typeface="Arial"/>
                <a:ea typeface="Arial"/>
                <a:cs typeface="Arial"/>
              </a:rPr>
              <a:t>3  Naive Bayes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09CFB4-616D-4D88-8103-7ECC92466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676650"/>
            <a:ext cx="4857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07E87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07E87"/>
                </a:solidFill>
                <a:latin typeface="Arial"/>
                <a:ea typeface="Arial"/>
                <a:cs typeface="Arial"/>
              </a:rPr>
              <a:t>4  Nhãn dự đoán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A7ECB9-995A-4D87-8D7A-2BC4DA30A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00300"/>
            <a:ext cx="4762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42A3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42A3B"/>
                </a:solidFill>
                <a:latin typeface="Arial"/>
                <a:ea typeface="Arial"/>
                <a:cs typeface="Arial"/>
              </a:rPr>
              <a:t>Từ ngữ trong bài viết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9EA1AA-E41A-4A21-822B-24CF6EA82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400300"/>
            <a:ext cx="4762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42A3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42A3B"/>
                </a:solidFill>
                <a:latin typeface="Arial"/>
                <a:ea typeface="Arial"/>
                <a:cs typeface="Arial"/>
              </a:rPr>
              <a:t>Bag of Words hoặc TF-IDF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51C435-C145-4214-B2A7-B97540B63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14825"/>
            <a:ext cx="4762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42A3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42A3B"/>
                </a:solidFill>
                <a:latin typeface="Arial"/>
                <a:ea typeface="Arial"/>
                <a:cs typeface="Arial"/>
              </a:rPr>
              <a:t>Tính điểm cho từng lớp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824422-10EF-410A-8C44-D910B1C50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314825"/>
            <a:ext cx="4762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42A3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42A3B"/>
                </a:solidFill>
                <a:latin typeface="Arial"/>
                <a:ea typeface="Arial"/>
                <a:cs typeface="Arial"/>
              </a:rPr>
              <a:t>Chọn lớp có điểm cao nhất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9D6642-EECF-4152-80D3-2D2BEC1BE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34050"/>
            <a:ext cx="1028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49616E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9616E"/>
                </a:solidFill>
                <a:latin typeface="Arial"/>
                <a:ea typeface="Arial"/>
                <a:cs typeface="Arial"/>
              </a:rPr>
              <a:t>Fit trên train; test chỉ dùng để đánh giá</a:t>
            </a:r>
          </a:p>
        </p:txBody>
      </p:sp>
    </p:spTree>
    <p:extLst>
      <p:ext uri="{BB962C8B-B14F-4D97-AF65-F5344CB8AC3E}">
        <p14:creationId xmlns:p14="http://schemas.microsoft.com/office/powerpoint/2010/main" val="49560782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7F8AFB-F660-4DC3-92EB-71D517A49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820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42A3B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42A3B"/>
                </a:solidFill>
                <a:latin typeface="Arial"/>
                <a:ea typeface="Arial"/>
                <a:cs typeface="Arial"/>
              </a:rPr>
              <a:t>Hai cách biểu diễn văn bản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8A0A09-888C-43FC-8AFB-372E124B5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67450"/>
            <a:ext cx="419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49616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9616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F80833-2B60-46EA-A07B-34DDF008F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09750"/>
            <a:ext cx="447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07E87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07E87"/>
                </a:solidFill>
                <a:latin typeface="Arial"/>
                <a:ea typeface="Arial"/>
                <a:cs typeface="Arial"/>
              </a:rPr>
              <a:t>Bag of Words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A07EB8-33C0-483E-952E-AB007CC76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47925"/>
            <a:ext cx="476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42A3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42A3B"/>
                </a:solidFill>
                <a:latin typeface="Arial"/>
                <a:ea typeface="Arial"/>
                <a:cs typeface="Arial"/>
              </a:rPr>
              <a:t>Đếm số lần mỗi từ xuất hiện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D904FF-97C0-40D6-ACA9-2DEED1A9F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62350"/>
            <a:ext cx="4762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42A3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42A3B"/>
                </a:solidFill>
                <a:latin typeface="Arial"/>
                <a:ea typeface="Arial"/>
                <a:cs typeface="Arial"/>
              </a:rPr>
              <a:t>“bóng đá bóng” → [2, 1, 0]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372FF5-3493-43E8-9E46-A4452035D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809750"/>
            <a:ext cx="447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07E87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07E87"/>
                </a:solidFill>
                <a:latin typeface="Arial"/>
                <a:ea typeface="Arial"/>
                <a:cs typeface="Arial"/>
              </a:rPr>
              <a:t>TF-IDF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91A8AD-D905-4082-A1D7-8F79989F7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47925"/>
            <a:ext cx="4762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42A3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42A3B"/>
                </a:solidFill>
                <a:latin typeface="Arial"/>
                <a:ea typeface="Arial"/>
                <a:cs typeface="Arial"/>
              </a:rPr>
              <a:t>Giảm trọng số từ xuất hiện ở nhiều tài liệu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532AEA-0E30-4B52-8E79-8040BFA05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562350"/>
            <a:ext cx="4762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42A3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42A3B"/>
                </a:solidFill>
                <a:latin typeface="Arial"/>
                <a:ea typeface="Arial"/>
                <a:cs typeface="Arial"/>
              </a:rPr>
              <a:t>Vẫn giữ véc-tơ không âm cho MNB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B330F7-DC85-4C8F-BD7D-A19B7F543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381625"/>
            <a:ext cx="9906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49616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49616E"/>
                </a:solidFill>
                <a:latin typeface="Arial"/>
                <a:ea typeface="Arial"/>
                <a:cs typeface="Arial"/>
              </a:rPr>
              <a:t>Cả hai không giữ thứ tự dài giữa các từ</a:t>
            </a:r>
          </a:p>
        </p:txBody>
      </p:sp>
    </p:spTree>
    <p:extLst>
      <p:ext uri="{BB962C8B-B14F-4D97-AF65-F5344CB8AC3E}">
        <p14:creationId xmlns:p14="http://schemas.microsoft.com/office/powerpoint/2010/main" val="205565859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B69BE7-ABEA-4C52-842B-112CF0180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820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42A3B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42A3B"/>
                </a:solidFill>
                <a:latin typeface="Arial"/>
                <a:ea typeface="Arial"/>
                <a:cs typeface="Arial"/>
              </a:rPr>
              <a:t>Multinomial Naive Bayes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241EA4-33F1-4CDB-B434-E1076351B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67450"/>
            <a:ext cx="419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49616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9616E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D32C5E-06BA-4FB4-8CEE-308B35F22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38300"/>
            <a:ext cx="10001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07E87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007E87"/>
                </a:solidFill>
                <a:latin typeface="Arial"/>
                <a:ea typeface="Arial"/>
                <a:cs typeface="Arial"/>
              </a:rPr>
              <a:t>P(c | d) ∝ P(d | c) P(c)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87A5F1-F44C-46DD-9455-6046B0D33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05100"/>
            <a:ext cx="10477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42A3B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score(c, x) = log P(c) + Σᵢ xᵢ log θ(c,i)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8BC07B-8E82-4C3F-8D4D-0850D6B95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867150"/>
            <a:ext cx="10477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42A3B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42A3B"/>
                </a:solidFill>
                <a:latin typeface="Arial"/>
                <a:ea typeface="Arial"/>
                <a:cs typeface="Arial"/>
              </a:rPr>
              <a:t>θ(c,i) = [N(c,i) + α] / [N(c) + αV]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68A371-E82A-4032-B274-6AA993635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53050"/>
            <a:ext cx="10287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49616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49616E"/>
                </a:solidFill>
                <a:latin typeface="Arial"/>
                <a:ea typeface="Arial"/>
                <a:cs typeface="Arial"/>
              </a:rPr>
              <a:t>α = 1: làm trơn Laplace để từ chưa thấy không có xác suất bằng 0</a:t>
            </a:r>
          </a:p>
        </p:txBody>
      </p:sp>
    </p:spTree>
    <p:extLst>
      <p:ext uri="{BB962C8B-B14F-4D97-AF65-F5344CB8AC3E}">
        <p14:creationId xmlns:p14="http://schemas.microsoft.com/office/powerpoint/2010/main" val="192044343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7BD294-82EB-4258-AB28-60C6D4789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820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42A3B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42A3B"/>
                </a:solidFill>
                <a:latin typeface="Arial"/>
                <a:ea typeface="Arial"/>
                <a:cs typeface="Arial"/>
              </a:rPr>
              <a:t>Ví dụ tính tay: “bóng đá mới”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475274-1F6C-4384-934E-C2F1178D8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67450"/>
            <a:ext cx="419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49616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9616E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0375CF-D010-4B36-BF7E-C2D50586C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75260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7E87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7E87"/>
                </a:solidFill>
                <a:latin typeface="Arial"/>
                <a:ea typeface="Arial"/>
                <a:cs typeface="Arial"/>
              </a:rPr>
              <a:t>Từ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95D9FB-E4E1-439A-A894-FDFC486E4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75260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7E87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7E87"/>
                </a:solidFill>
                <a:latin typeface="Arial"/>
                <a:ea typeface="Arial"/>
                <a:cs typeface="Arial"/>
              </a:rPr>
              <a:t>Thể thao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AF0B0C-144F-4229-8F2E-295006318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75260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7E87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07E87"/>
                </a:solidFill>
                <a:latin typeface="Arial"/>
                <a:ea typeface="Arial"/>
                <a:cs typeface="Arial"/>
              </a:rPr>
              <a:t>Công nghệ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A1AEB7-FC94-4673-AA77-7C517BBCC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57175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42A3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42A3B"/>
                </a:solidFill>
                <a:latin typeface="Arial"/>
                <a:ea typeface="Arial"/>
                <a:cs typeface="Arial"/>
              </a:rPr>
              <a:t>bóng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A12A23-B6E2-474F-BF56-19105056E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571750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42A3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42A3B"/>
                </a:solidFill>
                <a:latin typeface="Arial"/>
                <a:ea typeface="Arial"/>
                <a:cs typeface="Arial"/>
              </a:rPr>
              <a:t>3/14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443307-E4EB-43E0-8E3C-CB431CAE6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571750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42A3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42A3B"/>
                </a:solidFill>
                <a:latin typeface="Arial"/>
                <a:ea typeface="Arial"/>
                <a:cs typeface="Arial"/>
              </a:rPr>
              <a:t>1/14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7D9D05-F335-4C75-89E0-1CA4C3926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343275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42A3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42A3B"/>
                </a:solidFill>
                <a:latin typeface="Arial"/>
                <a:ea typeface="Arial"/>
                <a:cs typeface="Arial"/>
              </a:rPr>
              <a:t>đá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61BF7D-C134-4977-BF94-B3F3CA54D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343275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42A3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42A3B"/>
                </a:solidFill>
                <a:latin typeface="Arial"/>
                <a:ea typeface="Arial"/>
                <a:cs typeface="Arial"/>
              </a:rPr>
              <a:t>3/14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FAE96B-F025-4AB6-A36E-B68535B1A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343275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42A3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42A3B"/>
                </a:solidFill>
                <a:latin typeface="Arial"/>
                <a:ea typeface="Arial"/>
                <a:cs typeface="Arial"/>
              </a:rPr>
              <a:t>1/14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605A12-3857-48BD-A49C-B1C960C70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11480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42A3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42A3B"/>
                </a:solidFill>
                <a:latin typeface="Arial"/>
                <a:ea typeface="Arial"/>
                <a:cs typeface="Arial"/>
              </a:rPr>
              <a:t>mới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CDE37F-CEF3-414B-BD25-D7E84E4F8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114800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42A3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42A3B"/>
                </a:solidFill>
                <a:latin typeface="Arial"/>
                <a:ea typeface="Arial"/>
                <a:cs typeface="Arial"/>
              </a:rPr>
              <a:t>1/14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0E0A7C-990E-471F-AD8A-CB494BBB5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4114800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42A3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42A3B"/>
                </a:solidFill>
                <a:latin typeface="Arial"/>
                <a:ea typeface="Arial"/>
                <a:cs typeface="Arial"/>
              </a:rPr>
              <a:t>2/14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C6B1DB-3934-40B2-96FE-FB24D2AC5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276850"/>
            <a:ext cx="10382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42A3B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42A3B"/>
                </a:solidFill>
                <a:latin typeface="Arial"/>
                <a:ea typeface="Arial"/>
                <a:cs typeface="Arial"/>
              </a:rPr>
              <a:t>Điểm Thể thao = 9/5488    &gt;    Công nghệ = 2/5488</a:t>
            </a:r>
          </a:p>
        </p:txBody>
      </p:sp>
    </p:spTree>
    <p:extLst>
      <p:ext uri="{BB962C8B-B14F-4D97-AF65-F5344CB8AC3E}">
        <p14:creationId xmlns:p14="http://schemas.microsoft.com/office/powerpoint/2010/main" val="24976052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FC03D2-A0B4-436F-83F0-33E462AFA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820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42A3B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42A3B"/>
                </a:solidFill>
                <a:latin typeface="Arial"/>
                <a:ea typeface="Arial"/>
                <a:cs typeface="Arial"/>
              </a:rPr>
              <a:t>Thiết kế thực nghiệm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81C545-8A41-4233-B4ED-6E23C652F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67450"/>
            <a:ext cx="419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49616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9616E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B7BC97-8418-437F-A597-81E3F6B7D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85925"/>
            <a:ext cx="3905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7E87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007E87"/>
                </a:solidFill>
                <a:latin typeface="Arial"/>
                <a:ea typeface="Arial"/>
                <a:cs typeface="Arial"/>
              </a:rPr>
              <a:t>2.239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80D7D6-5222-4AAB-9177-410D26618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524125"/>
            <a:ext cx="409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42A3B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42A3B"/>
                </a:solidFill>
                <a:latin typeface="Arial"/>
                <a:ea typeface="Arial"/>
                <a:cs typeface="Arial"/>
              </a:rPr>
              <a:t>mẫu train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0DAF4A-664C-4614-987C-49468F3F5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685925"/>
            <a:ext cx="4000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007E87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007E87"/>
                </a:solidFill>
                <a:latin typeface="Arial"/>
                <a:ea typeface="Arial"/>
                <a:cs typeface="Arial"/>
              </a:rPr>
              <a:t>1.490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D7FC72-161E-4F33-BCC6-D8DE1BD64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524125"/>
            <a:ext cx="409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42A3B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42A3B"/>
                </a:solidFill>
                <a:latin typeface="Arial"/>
                <a:ea typeface="Arial"/>
                <a:cs typeface="Arial"/>
              </a:rPr>
              <a:t>mẫu test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9F727D-C28E-4143-A3FE-B707B1F07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771900"/>
            <a:ext cx="1038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42A3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42A3B"/>
                </a:solidFill>
                <a:latin typeface="Arial"/>
                <a:ea typeface="Arial"/>
                <a:cs typeface="Arial"/>
              </a:rPr>
              <a:t>Cùng MultinomialNB, α =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F798D3-117A-4674-82D5-4D5026F7B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486275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42A3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So sánh CountVectorizer và TfidfVectorizer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476927-D9B6-468E-921F-14BAB1FBE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219700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49616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49616E"/>
                </a:solidFill>
                <a:latin typeface="Arial"/>
                <a:ea typeface="Arial"/>
                <a:cs typeface="Arial"/>
              </a:rPr>
              <a:t>Loại header, chữ ký, trích dẫn trước khi học</a:t>
            </a:r>
          </a:p>
        </p:txBody>
      </p:sp>
    </p:spTree>
    <p:extLst>
      <p:ext uri="{BB962C8B-B14F-4D97-AF65-F5344CB8AC3E}">
        <p14:creationId xmlns:p14="http://schemas.microsoft.com/office/powerpoint/2010/main" val="183276112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7089A7-CE14-4525-BF81-A0113A37C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820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42A3B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42A3B"/>
                </a:solidFill>
                <a:latin typeface="Arial"/>
                <a:ea typeface="Arial"/>
                <a:cs typeface="Arial"/>
              </a:rPr>
              <a:t>Kết quả trên tập test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B63572-9923-4C42-8551-0A88BE817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67450"/>
            <a:ext cx="419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49616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9616E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graphicFrame>
        <p:nvGraphicFramePr>
          <p:cNvPr id="7" name="Chart"/>
          <p:cNvGraphicFramePr/>
          <p:nvPr/>
        </p:nvGraphicFramePr>
        <p:xfrm>
          <a:off xmlns:a="http://schemas.openxmlformats.org/drawingml/2006/main" x="857250" y="1714500"/>
          <a:ext xmlns:a="http://schemas.openxmlformats.org/drawingml/2006/main" cx="1009650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91d2472c49d46f9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C3DECB-C1B9-4593-8DE3-A29462EE8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476875"/>
            <a:ext cx="10096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49616E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49616E"/>
                </a:solidFill>
                <a:latin typeface="Arial"/>
                <a:ea typeface="Arial"/>
                <a:cs typeface="Arial"/>
              </a:rPr>
              <a:t>Đơn vị: %  ·  TF-IDF cao hơn khoảng 1,7 điểm phần trăm</a:t>
            </a:r>
          </a:p>
        </p:txBody>
      </p:sp>
    </p:spTree>
    <p:extLst>
      <p:ext uri="{BB962C8B-B14F-4D97-AF65-F5344CB8AC3E}">
        <p14:creationId xmlns:p14="http://schemas.microsoft.com/office/powerpoint/2010/main" val="64244033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5228EF-286A-466E-B84F-13B4EC3F3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820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42A3B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42A3B"/>
                </a:solidFill>
                <a:latin typeface="Arial"/>
                <a:ea typeface="Arial"/>
                <a:cs typeface="Arial"/>
              </a:rPr>
              <a:t>Các cặp chủ đề dễ nhầm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DC3592-4231-4B48-9B09-619346C51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67450"/>
            <a:ext cx="419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49616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9616E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2D4523-414F-4404-ADC3-C6AF89E50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62125"/>
            <a:ext cx="952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42A3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42A3B"/>
                </a:solidFill>
                <a:latin typeface="Arial"/>
                <a:ea typeface="Arial"/>
                <a:cs typeface="Arial"/>
              </a:rPr>
              <a:t>Không gian → Chính trị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781C80-F4D1-4C57-8B60-74F306278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28875"/>
            <a:ext cx="952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0">
                <a:solidFill>
                  <a:srgbClr val="007E87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007E87"/>
                </a:solidFill>
                <a:latin typeface="Arial"/>
                <a:ea typeface="Arial"/>
                <a:cs typeface="Arial"/>
              </a:rPr>
              <a:t>62 xuống 14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4864E8-20CC-46B7-9D39-EF10F7949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71875"/>
            <a:ext cx="952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42A3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42A3B"/>
                </a:solidFill>
                <a:latin typeface="Arial"/>
                <a:ea typeface="Arial"/>
                <a:cs typeface="Arial"/>
              </a:rPr>
              <a:t>Chính trị → Không gian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8CF17B-8E70-4B97-AF74-4340AD7A1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38625"/>
            <a:ext cx="952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0">
                <a:solidFill>
                  <a:srgbClr val="007E87"/>
                </a:solidFill>
                <a:latin typeface="Arial"/>
                <a:ea typeface="Arial"/>
                <a:cs typeface="Arial"/>
              </a:defRPr>
            </a:pPr>
            <a:r>
              <a:rPr sz="3150" b="0">
                <a:solidFill>
                  <a:srgbClr val="007E87"/>
                </a:solidFill>
                <a:latin typeface="Arial"/>
                <a:ea typeface="Arial"/>
                <a:cs typeface="Arial"/>
              </a:rPr>
              <a:t>15 lên 45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46C2B2-6CE0-46D9-87F3-3CB60867E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48300"/>
            <a:ext cx="10287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49616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49616E"/>
                </a:solidFill>
                <a:latin typeface="Arial"/>
                <a:ea typeface="Arial"/>
                <a:cs typeface="Arial"/>
              </a:rPr>
              <a:t>TF-IDF tăng điểm chung nhưng giảm recall của lớp chính trị</a:t>
            </a:r>
          </a:p>
        </p:txBody>
      </p:sp>
    </p:spTree>
    <p:extLst>
      <p:ext uri="{BB962C8B-B14F-4D97-AF65-F5344CB8AC3E}">
        <p14:creationId xmlns:p14="http://schemas.microsoft.com/office/powerpoint/2010/main" val="122653184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606DF0-A2C2-4CCA-A25E-FE81C9950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0820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42A3B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42A3B"/>
                </a:solidFill>
                <a:latin typeface="Arial"/>
                <a:ea typeface="Arial"/>
                <a:cs typeface="Arial"/>
              </a:rPr>
              <a:t>Kết luận và giới hạn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729048-CFD6-4BE3-B7DE-193B08C31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67450"/>
            <a:ext cx="419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49616E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49616E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C71CCB-DE64-4354-89E1-85896F683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14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07E87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07E87"/>
                </a:solidFill>
                <a:latin typeface="Arial"/>
                <a:ea typeface="Arial"/>
                <a:cs typeface="Arial"/>
              </a:rPr>
              <a:t>MNB là mô hình đơn giản, dễ giải thích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76048D-B84D-4875-9D20-BC4FAFFCC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19375"/>
            <a:ext cx="10287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42A3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42A3B"/>
                </a:solidFill>
                <a:latin typeface="Arial"/>
                <a:ea typeface="Arial"/>
                <a:cs typeface="Arial"/>
              </a:rPr>
              <a:t>Macro F1 tốt nhất trong thử nghiệm: 0,8687 với TF-IDF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BDBB46-F43C-4280-8016-6B0700A9F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57625"/>
            <a:ext cx="10287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42A3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42A3B"/>
                </a:solidFill>
                <a:latin typeface="Arial"/>
                <a:ea typeface="Arial"/>
                <a:cs typeface="Arial"/>
              </a:rPr>
              <a:t>Giới hạn: dữ liệu tiếng Anh, bốn lớp, một tập test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22D0D4-644B-4F37-891D-A424B6098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53000"/>
            <a:ext cx="10287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42A3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42A3B"/>
                </a:solidFill>
                <a:latin typeface="Arial"/>
                <a:ea typeface="Arial"/>
                <a:cs typeface="Arial"/>
              </a:rPr>
              <a:t>Bước tiếp: dữ liệu tiếng Việt và tập validation riêng</a:t>
            </a:r>
          </a:p>
        </p:txBody>
      </p:sp>
    </p:spTree>
    <p:extLst>
      <p:ext uri="{BB962C8B-B14F-4D97-AF65-F5344CB8AC3E}">
        <p14:creationId xmlns:p14="http://schemas.microsoft.com/office/powerpoint/2010/main" val="102250640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2026-09-30T10:58:14.0080000Z</dcterms:created>
  <dcterms:modified xsi:type="dcterms:W3CDTF">2026-09-30T10:58:14.0080000Z</dcterms:modified>
</coreProperties>
</file>